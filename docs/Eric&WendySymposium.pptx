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62"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1009"/>
    <a:srgbClr val="BBD5ED"/>
    <a:srgbClr val="664A8D"/>
    <a:srgbClr val="006EB8"/>
    <a:srgbClr val="8075AB"/>
    <a:srgbClr val="BCD8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789"/>
  </p:normalViewPr>
  <p:slideViewPr>
    <p:cSldViewPr snapToGrid="0">
      <p:cViewPr>
        <p:scale>
          <a:sx n="24" d="100"/>
          <a:sy n="24" d="100"/>
        </p:scale>
        <p:origin x="1240" y="240"/>
      </p:cViewPr>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03532C-91A8-164A-885C-25D3901295EB}" type="datetimeFigureOut">
              <a:rPr lang="en-US" smtClean="0"/>
              <a:t>5/4/26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4DD5D0-8A05-0249-9B01-94ACC65AE9DA}" type="slidenum">
              <a:rPr lang="en-US" smtClean="0"/>
              <a:t>‹#›</a:t>
            </a:fld>
            <a:endParaRPr lang="en-US"/>
          </a:p>
        </p:txBody>
      </p:sp>
    </p:spTree>
    <p:extLst>
      <p:ext uri="{BB962C8B-B14F-4D97-AF65-F5344CB8AC3E}">
        <p14:creationId xmlns:p14="http://schemas.microsoft.com/office/powerpoint/2010/main" val="139283203"/>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B05D6-08D3-5ED2-6C2B-32E37E7D2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BB8A5-53AA-B13A-E9D7-457B96F93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5637D-F156-B01D-8D4B-6F24598A5E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B4FE7-E8CC-42B2-B5AE-96EF338C382C}"/>
              </a:ext>
            </a:extLst>
          </p:cNvPr>
          <p:cNvSpPr>
            <a:spLocks noGrp="1"/>
          </p:cNvSpPr>
          <p:nvPr>
            <p:ph type="sldNum" sz="quarter" idx="5"/>
          </p:nvPr>
        </p:nvSpPr>
        <p:spPr/>
        <p:txBody>
          <a:bodyPr/>
          <a:lstStyle/>
          <a:p>
            <a:fld id="{854DD5D0-8A05-0249-9B01-94ACC65AE9DA}" type="slidenum">
              <a:rPr lang="en-US" smtClean="0"/>
              <a:t>1</a:t>
            </a:fld>
            <a:endParaRPr lang="en-US"/>
          </a:p>
        </p:txBody>
      </p:sp>
    </p:spTree>
    <p:extLst>
      <p:ext uri="{BB962C8B-B14F-4D97-AF65-F5344CB8AC3E}">
        <p14:creationId xmlns:p14="http://schemas.microsoft.com/office/powerpoint/2010/main" val="2011383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1CCFFE-BA52-5D47-96D5-4474F58F708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4203091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1CCFFE-BA52-5D47-96D5-4474F58F708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3963395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1CCFFE-BA52-5D47-96D5-4474F58F708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2841298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1CCFFE-BA52-5D47-96D5-4474F58F708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1552846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1CCFFE-BA52-5D47-96D5-4474F58F7084}" type="datetimeFigureOut">
              <a:rPr lang="en-US" smtClean="0"/>
              <a:t>5/4/26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2675905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1CCFFE-BA52-5D47-96D5-4474F58F7084}" type="datetimeFigureOut">
              <a:rPr lang="en-US" smtClean="0"/>
              <a:t>5/4/26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3007786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1CCFFE-BA52-5D47-96D5-4474F58F7084}" type="datetimeFigureOut">
              <a:rPr lang="en-US" smtClean="0"/>
              <a:t>5/4/26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1746758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FA1CCFFE-BA52-5D47-96D5-4474F58F708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2679543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FA1CCFFE-BA52-5D47-96D5-4474F58F708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2129351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1CCFFE-BA52-5D47-96D5-4474F58F708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3792338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1CCFFE-BA52-5D47-96D5-4474F58F708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890E1D-A7C3-6B42-AD4C-15B952FCAE9E}" type="slidenum">
              <a:rPr lang="en-US" smtClean="0"/>
              <a:t>‹#›</a:t>
            </a:fld>
            <a:endParaRPr lang="en-US"/>
          </a:p>
        </p:txBody>
      </p:sp>
    </p:spTree>
    <p:extLst>
      <p:ext uri="{BB962C8B-B14F-4D97-AF65-F5344CB8AC3E}">
        <p14:creationId xmlns:p14="http://schemas.microsoft.com/office/powerpoint/2010/main" val="2829855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FA1CCFFE-BA52-5D47-96D5-4474F58F7084}" type="datetimeFigureOut">
              <a:rPr lang="en-US" smtClean="0"/>
              <a:t>5/4/26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C8890E1D-A7C3-6B42-AD4C-15B952FCAE9E}" type="slidenum">
              <a:rPr lang="en-US" smtClean="0"/>
              <a:t>‹#›</a:t>
            </a:fld>
            <a:endParaRPr lang="en-US"/>
          </a:p>
        </p:txBody>
      </p:sp>
    </p:spTree>
    <p:extLst>
      <p:ext uri="{BB962C8B-B14F-4D97-AF65-F5344CB8AC3E}">
        <p14:creationId xmlns:p14="http://schemas.microsoft.com/office/powerpoint/2010/main" val="14774056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sv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8395F-9AF7-C00E-56DC-64C20731B39F}"/>
            </a:ext>
          </a:extLst>
        </p:cNvPr>
        <p:cNvGrpSpPr/>
        <p:nvPr/>
      </p:nvGrpSpPr>
      <p:grpSpPr>
        <a:xfrm>
          <a:off x="0" y="0"/>
          <a:ext cx="0" cy="0"/>
          <a:chOff x="0" y="0"/>
          <a:chExt cx="0" cy="0"/>
        </a:xfrm>
      </p:grpSpPr>
      <p:pic>
        <p:nvPicPr>
          <p:cNvPr id="8" name="Picture 2">
            <a:extLst>
              <a:ext uri="{FF2B5EF4-FFF2-40B4-BE49-F238E27FC236}">
                <a16:creationId xmlns:a16="http://schemas.microsoft.com/office/drawing/2014/main" id="{B282E4EA-7977-2273-BB1E-B932A76DF6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679" t="8857" r="37556" b="8914"/>
          <a:stretch>
            <a:fillRect/>
          </a:stretch>
        </p:blipFill>
        <p:spPr bwMode="auto">
          <a:xfrm>
            <a:off x="27314904" y="26326652"/>
            <a:ext cx="5804195" cy="60823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38998DF5-8FAB-4F82-303B-82B03D2C8F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178" t="10240" r="13498" b="1528"/>
          <a:stretch>
            <a:fillRect/>
          </a:stretch>
        </p:blipFill>
        <p:spPr bwMode="auto">
          <a:xfrm>
            <a:off x="19669088" y="26388828"/>
            <a:ext cx="7123627" cy="5911979"/>
          </a:xfrm>
          <a:prstGeom prst="rect">
            <a:avLst/>
          </a:prstGeom>
          <a:noFill/>
          <a:ln w="76200">
            <a:solidFill>
              <a:schemeClr val="accent2"/>
            </a:solidFill>
          </a:ln>
          <a:extLst>
            <a:ext uri="{909E8E84-426E-40DD-AFC4-6F175D3DCCD1}">
              <a14:hiddenFill xmlns:a14="http://schemas.microsoft.com/office/drawing/2010/main">
                <a:solidFill>
                  <a:srgbClr val="FFFFFF"/>
                </a:solidFill>
              </a14:hiddenFill>
            </a:ext>
          </a:extLst>
        </p:spPr>
      </p:pic>
      <p:pic>
        <p:nvPicPr>
          <p:cNvPr id="8199" name="Picture 8198">
            <a:extLst>
              <a:ext uri="{FF2B5EF4-FFF2-40B4-BE49-F238E27FC236}">
                <a16:creationId xmlns:a16="http://schemas.microsoft.com/office/drawing/2014/main" id="{6378BFEF-8936-4A2E-4162-5B74EB295ACA}"/>
              </a:ext>
            </a:extLst>
          </p:cNvPr>
          <p:cNvPicPr>
            <a:picLocks noChangeAspect="1"/>
          </p:cNvPicPr>
          <p:nvPr/>
        </p:nvPicPr>
        <p:blipFill>
          <a:blip r:embed="rId4"/>
          <a:srcRect l="8333" t="1508" r="15109" b="10969"/>
          <a:stretch>
            <a:fillRect/>
          </a:stretch>
        </p:blipFill>
        <p:spPr>
          <a:xfrm>
            <a:off x="24085968" y="8206176"/>
            <a:ext cx="1587394" cy="2117214"/>
          </a:xfrm>
          <a:prstGeom prst="rect">
            <a:avLst/>
          </a:prstGeom>
          <a:ln w="76200">
            <a:solidFill>
              <a:srgbClr val="8B1009"/>
            </a:solidFill>
          </a:ln>
        </p:spPr>
      </p:pic>
      <p:sp>
        <p:nvSpPr>
          <p:cNvPr id="1116" name="Rectangle 1115">
            <a:extLst>
              <a:ext uri="{FF2B5EF4-FFF2-40B4-BE49-F238E27FC236}">
                <a16:creationId xmlns:a16="http://schemas.microsoft.com/office/drawing/2014/main" id="{DFA515C1-3FFD-6A11-903B-F2871F39F660}"/>
              </a:ext>
            </a:extLst>
          </p:cNvPr>
          <p:cNvSpPr/>
          <p:nvPr/>
        </p:nvSpPr>
        <p:spPr>
          <a:xfrm>
            <a:off x="12124668" y="14488075"/>
            <a:ext cx="20359832" cy="7281787"/>
          </a:xfrm>
          <a:prstGeom prst="rect">
            <a:avLst/>
          </a:prstGeom>
          <a:noFill/>
          <a:ln w="76200">
            <a:solidFill>
              <a:srgbClr val="8B10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B1A02BA-6F13-F3D3-0ACC-F3DAEFCB12EC}"/>
              </a:ext>
            </a:extLst>
          </p:cNvPr>
          <p:cNvSpPr/>
          <p:nvPr/>
        </p:nvSpPr>
        <p:spPr>
          <a:xfrm>
            <a:off x="0" y="-16254"/>
            <a:ext cx="43891200" cy="5328813"/>
          </a:xfrm>
          <a:prstGeom prst="rect">
            <a:avLst/>
          </a:prstGeom>
          <a:solidFill>
            <a:srgbClr val="BBD5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TextBox 17">
            <a:extLst>
              <a:ext uri="{FF2B5EF4-FFF2-40B4-BE49-F238E27FC236}">
                <a16:creationId xmlns:a16="http://schemas.microsoft.com/office/drawing/2014/main" id="{B10EC724-9B09-5EE1-31A1-DE59820CA15D}"/>
              </a:ext>
            </a:extLst>
          </p:cNvPr>
          <p:cNvSpPr txBox="1"/>
          <p:nvPr/>
        </p:nvSpPr>
        <p:spPr>
          <a:xfrm>
            <a:off x="430267" y="-50340"/>
            <a:ext cx="43460933" cy="4524315"/>
          </a:xfrm>
          <a:prstGeom prst="rect">
            <a:avLst/>
          </a:prstGeom>
          <a:noFill/>
        </p:spPr>
        <p:txBody>
          <a:bodyPr wrap="square" rtlCol="0">
            <a:spAutoFit/>
          </a:bodyPr>
          <a:lstStyle/>
          <a:p>
            <a:pPr algn="ctr"/>
            <a:r>
              <a:rPr lang="en-US" sz="9600" b="1" dirty="0">
                <a:latin typeface="Arial" panose="020B0604020202020204" pitchFamily="34" charset="0"/>
                <a:cs typeface="Arial" panose="020B0604020202020204" pitchFamily="34" charset="0"/>
              </a:rPr>
              <a:t>Automated Analysis of Polar Growth Dynamics in Fission Yeast: </a:t>
            </a:r>
          </a:p>
          <a:p>
            <a:pPr algn="ctr"/>
            <a:r>
              <a:rPr lang="en-US" sz="9600" b="1" dirty="0">
                <a:latin typeface="Arial" panose="020B0604020202020204" pitchFamily="34" charset="0"/>
                <a:cs typeface="Arial" panose="020B0604020202020204" pitchFamily="34" charset="0"/>
              </a:rPr>
              <a:t>A Hybrid Deep Learning and Geometric Modeling Approach</a:t>
            </a:r>
          </a:p>
          <a:p>
            <a:pPr algn="ctr"/>
            <a:endParaRPr lang="en-US" sz="9600" b="1" dirty="0"/>
          </a:p>
        </p:txBody>
      </p:sp>
      <p:sp>
        <p:nvSpPr>
          <p:cNvPr id="25" name="Rectangle 24">
            <a:extLst>
              <a:ext uri="{FF2B5EF4-FFF2-40B4-BE49-F238E27FC236}">
                <a16:creationId xmlns:a16="http://schemas.microsoft.com/office/drawing/2014/main" id="{323520CB-6DDF-004D-240E-12A5334E7662}"/>
              </a:ext>
            </a:extLst>
          </p:cNvPr>
          <p:cNvSpPr/>
          <p:nvPr/>
        </p:nvSpPr>
        <p:spPr>
          <a:xfrm>
            <a:off x="607722" y="6010116"/>
            <a:ext cx="10150889" cy="1174688"/>
          </a:xfrm>
          <a:prstGeom prst="rect">
            <a:avLst/>
          </a:prstGeom>
          <a:solidFill>
            <a:srgbClr val="006EB8"/>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solidFill>
                  <a:schemeClr val="bg1"/>
                </a:solidFill>
              </a:rPr>
              <a:t>Context &amp; Challenges</a:t>
            </a:r>
          </a:p>
        </p:txBody>
      </p:sp>
      <p:sp>
        <p:nvSpPr>
          <p:cNvPr id="27" name="Rectangle 26">
            <a:extLst>
              <a:ext uri="{FF2B5EF4-FFF2-40B4-BE49-F238E27FC236}">
                <a16:creationId xmlns:a16="http://schemas.microsoft.com/office/drawing/2014/main" id="{D6043E71-8CB0-E35F-CCF5-7E259782CA9F}"/>
              </a:ext>
            </a:extLst>
          </p:cNvPr>
          <p:cNvSpPr/>
          <p:nvPr/>
        </p:nvSpPr>
        <p:spPr>
          <a:xfrm>
            <a:off x="12009849" y="6010116"/>
            <a:ext cx="20359832" cy="1149392"/>
          </a:xfrm>
          <a:prstGeom prst="rect">
            <a:avLst/>
          </a:prstGeom>
          <a:solidFill>
            <a:srgbClr val="006E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t>The BS-Detector Pipeline</a:t>
            </a:r>
          </a:p>
        </p:txBody>
      </p:sp>
      <p:pic>
        <p:nvPicPr>
          <p:cNvPr id="32" name="Picture 12">
            <a:extLst>
              <a:ext uri="{FF2B5EF4-FFF2-40B4-BE49-F238E27FC236}">
                <a16:creationId xmlns:a16="http://schemas.microsoft.com/office/drawing/2014/main" id="{F0989569-20D8-0B7B-B544-67B9132A063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8722" t="10033" r="37135" b="9971"/>
          <a:stretch>
            <a:fillRect/>
          </a:stretch>
        </p:blipFill>
        <p:spPr bwMode="auto">
          <a:xfrm>
            <a:off x="21489107" y="14927824"/>
            <a:ext cx="5659691" cy="545261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2">
            <a:extLst>
              <a:ext uri="{FF2B5EF4-FFF2-40B4-BE49-F238E27FC236}">
                <a16:creationId xmlns:a16="http://schemas.microsoft.com/office/drawing/2014/main" id="{5B465DB0-B253-B5CC-BAAC-125E62106AA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6069" t="6073" r="53936" b="10191"/>
          <a:stretch>
            <a:fillRect/>
          </a:stretch>
        </p:blipFill>
        <p:spPr bwMode="auto">
          <a:xfrm>
            <a:off x="17439561" y="14785650"/>
            <a:ext cx="3894639" cy="555711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2">
            <a:extLst>
              <a:ext uri="{FF2B5EF4-FFF2-40B4-BE49-F238E27FC236}">
                <a16:creationId xmlns:a16="http://schemas.microsoft.com/office/drawing/2014/main" id="{E82FB95C-78D5-0A24-3110-A436E00E41C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861" t="6842" r="71646" b="9848"/>
          <a:stretch>
            <a:fillRect/>
          </a:stretch>
        </p:blipFill>
        <p:spPr bwMode="auto">
          <a:xfrm>
            <a:off x="12738561" y="14878224"/>
            <a:ext cx="4041018" cy="5464543"/>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29033A41-0F6E-F7A0-C463-2FB14355DC98}"/>
              </a:ext>
            </a:extLst>
          </p:cNvPr>
          <p:cNvSpPr txBox="1"/>
          <p:nvPr/>
        </p:nvSpPr>
        <p:spPr>
          <a:xfrm>
            <a:off x="510795" y="7315754"/>
            <a:ext cx="10305834" cy="21021139"/>
          </a:xfrm>
          <a:prstGeom prst="rect">
            <a:avLst/>
          </a:prstGeom>
          <a:noFill/>
        </p:spPr>
        <p:txBody>
          <a:bodyPr wrap="square" rtlCol="0">
            <a:spAutoFit/>
          </a:bodyPr>
          <a:lstStyle/>
          <a:p>
            <a:pPr algn="just"/>
            <a:r>
              <a:rPr lang="en-US" sz="4000" dirty="0"/>
              <a:t>Cell shape is critical for function. In fission yeast </a:t>
            </a:r>
            <a:r>
              <a:rPr lang="en-US" sz="4000" i="1" dirty="0" err="1"/>
              <a:t>Schizosaccharomyces</a:t>
            </a:r>
            <a:r>
              <a:rPr lang="en-US" sz="4000" i="1" dirty="0"/>
              <a:t> pombe</a:t>
            </a:r>
            <a:r>
              <a:rPr lang="en-US" sz="4000" dirty="0"/>
              <a:t>, this rod-like shape is maintained by polarized growth, which is regulated by conserved Rho GTPases, specifically Cdc42 and Rho1.</a:t>
            </a:r>
            <a:r>
              <a:rPr lang="en-US" sz="4000" baseline="30000" dirty="0"/>
              <a:t>1</a:t>
            </a:r>
            <a:r>
              <a:rPr lang="en-US" sz="4000" dirty="0"/>
              <a:t> These proteins oscillate between the cell poles to establish bipolar growth. After successful division, cells grow first from the "Old End" (inherited from the previous generation) before activating the "New End" in a process called New End Take Off (NETO).</a:t>
            </a:r>
            <a:r>
              <a:rPr lang="en-US" sz="4000" baseline="30000" dirty="0"/>
              <a:t>2</a:t>
            </a:r>
          </a:p>
          <a:p>
            <a:pPr algn="just"/>
            <a:endParaRPr lang="en-US" sz="2000" dirty="0"/>
          </a:p>
          <a:p>
            <a:pPr algn="just"/>
            <a:r>
              <a:rPr lang="en-US" sz="4000" dirty="0"/>
              <a:t>Our lab is investigating how Cdc42 and Rho1 regulate these distinct growth phases to maintain polarity. Recently, we observed that in </a:t>
            </a:r>
            <a:r>
              <a:rPr lang="en-US" sz="4000" i="1" dirty="0"/>
              <a:t>rgf1Δ</a:t>
            </a:r>
            <a:r>
              <a:rPr lang="en-US" sz="4000" dirty="0"/>
              <a:t> mutants with low rho1 activity, the fluorescence intensity of active Cdc42 decreases significantly.</a:t>
            </a:r>
            <a:r>
              <a:rPr lang="en-US" sz="4000" baseline="30000" dirty="0"/>
              <a:t>3</a:t>
            </a:r>
          </a:p>
          <a:p>
            <a:pPr algn="just"/>
            <a:endParaRPr lang="en-US" sz="2000" dirty="0"/>
          </a:p>
          <a:p>
            <a:pPr algn="just"/>
            <a:r>
              <a:rPr lang="en-US" sz="4000" dirty="0"/>
              <a:t>Testing this hypothesis requires correlating growth rates at the Old versus New ends with localized protein activity, allowing us to better link cell shape and polarity to the complex of mechanisms that set and maintain growth rate. However, distinguishing these ends requires identifying the "birth scar," a subtle ridge on the cell wall marking the previous division site. Manual annotation of birth scars is subjective and inefficient for the high-throughput analysis required to study subtle mutant phenotypes. To solve this, we developed a computational pipeline that automates this analysis by combining deep learning for segmentation with geometry for feature extraction.</a:t>
            </a:r>
          </a:p>
          <a:p>
            <a:pPr algn="just"/>
            <a:endParaRPr lang="en-US" sz="4000" dirty="0"/>
          </a:p>
        </p:txBody>
      </p:sp>
      <p:pic>
        <p:nvPicPr>
          <p:cNvPr id="60" name="Picture 12">
            <a:extLst>
              <a:ext uri="{FF2B5EF4-FFF2-40B4-BE49-F238E27FC236}">
                <a16:creationId xmlns:a16="http://schemas.microsoft.com/office/drawing/2014/main" id="{A37E7947-04B7-22B2-497B-84A0C2221A3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9507" t="10143" b="9360"/>
          <a:stretch>
            <a:fillRect/>
          </a:stretch>
        </p:blipFill>
        <p:spPr bwMode="auto">
          <a:xfrm>
            <a:off x="27604306" y="14903750"/>
            <a:ext cx="4242888" cy="5543828"/>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roup 61">
            <a:extLst>
              <a:ext uri="{FF2B5EF4-FFF2-40B4-BE49-F238E27FC236}">
                <a16:creationId xmlns:a16="http://schemas.microsoft.com/office/drawing/2014/main" id="{CE4C8282-A3E1-A799-7B74-5245C380B9FB}"/>
              </a:ext>
            </a:extLst>
          </p:cNvPr>
          <p:cNvGrpSpPr/>
          <p:nvPr/>
        </p:nvGrpSpPr>
        <p:grpSpPr>
          <a:xfrm flipH="1">
            <a:off x="12009849" y="8064991"/>
            <a:ext cx="5097606" cy="5060023"/>
            <a:chOff x="5118410" y="18675077"/>
            <a:chExt cx="8963620" cy="8909325"/>
          </a:xfrm>
        </p:grpSpPr>
        <p:pic>
          <p:nvPicPr>
            <p:cNvPr id="63" name="Picture 2">
              <a:extLst>
                <a:ext uri="{FF2B5EF4-FFF2-40B4-BE49-F238E27FC236}">
                  <a16:creationId xmlns:a16="http://schemas.microsoft.com/office/drawing/2014/main" id="{7BD16FF1-0A72-66C8-A774-6B586DC696E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5118410" y="186750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24" name="Picture 2">
              <a:extLst>
                <a:ext uri="{FF2B5EF4-FFF2-40B4-BE49-F238E27FC236}">
                  <a16:creationId xmlns:a16="http://schemas.microsoft.com/office/drawing/2014/main" id="{4F5EF863-3C2B-6BA0-D1D3-A07E5CE737D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5270810" y="188274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25" name="Picture 2">
              <a:extLst>
                <a:ext uri="{FF2B5EF4-FFF2-40B4-BE49-F238E27FC236}">
                  <a16:creationId xmlns:a16="http://schemas.microsoft.com/office/drawing/2014/main" id="{0464B102-43CA-3BB2-E561-68471199891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5423210" y="189798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27" name="Picture 2">
              <a:extLst>
                <a:ext uri="{FF2B5EF4-FFF2-40B4-BE49-F238E27FC236}">
                  <a16:creationId xmlns:a16="http://schemas.microsoft.com/office/drawing/2014/main" id="{565FA1EE-7A79-B265-31A9-445855F9610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5575610" y="191322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29" name="Picture 2">
              <a:extLst>
                <a:ext uri="{FF2B5EF4-FFF2-40B4-BE49-F238E27FC236}">
                  <a16:creationId xmlns:a16="http://schemas.microsoft.com/office/drawing/2014/main" id="{9F581770-D962-5A57-EC0D-772346F25BF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5728010" y="192846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31" name="Picture 2">
              <a:extLst>
                <a:ext uri="{FF2B5EF4-FFF2-40B4-BE49-F238E27FC236}">
                  <a16:creationId xmlns:a16="http://schemas.microsoft.com/office/drawing/2014/main" id="{7DFA8746-57DD-65EB-3E2E-187D907DC74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5880410" y="194370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33" name="Picture 2">
              <a:extLst>
                <a:ext uri="{FF2B5EF4-FFF2-40B4-BE49-F238E27FC236}">
                  <a16:creationId xmlns:a16="http://schemas.microsoft.com/office/drawing/2014/main" id="{8BAB0F92-7BB2-A403-8938-503639900B7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6032810" y="195894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35" name="Picture 2">
              <a:extLst>
                <a:ext uri="{FF2B5EF4-FFF2-40B4-BE49-F238E27FC236}">
                  <a16:creationId xmlns:a16="http://schemas.microsoft.com/office/drawing/2014/main" id="{4F0448EF-2C03-68F4-AB82-8DF5C22886F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6185210" y="197418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37" name="Picture 2">
              <a:extLst>
                <a:ext uri="{FF2B5EF4-FFF2-40B4-BE49-F238E27FC236}">
                  <a16:creationId xmlns:a16="http://schemas.microsoft.com/office/drawing/2014/main" id="{D8FA94A3-EAC3-EB19-D838-5A0D834DE12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6337610" y="198942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39" name="Picture 2">
              <a:extLst>
                <a:ext uri="{FF2B5EF4-FFF2-40B4-BE49-F238E27FC236}">
                  <a16:creationId xmlns:a16="http://schemas.microsoft.com/office/drawing/2014/main" id="{691ABB8F-EE4B-9E88-2F7E-E6B8D2EE19D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6490010" y="200466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41" name="Picture 2">
              <a:extLst>
                <a:ext uri="{FF2B5EF4-FFF2-40B4-BE49-F238E27FC236}">
                  <a16:creationId xmlns:a16="http://schemas.microsoft.com/office/drawing/2014/main" id="{C74D5C0B-4050-D6D9-8F2B-F05D2B342CC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6642410" y="201990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42" name="Picture 2">
              <a:extLst>
                <a:ext uri="{FF2B5EF4-FFF2-40B4-BE49-F238E27FC236}">
                  <a16:creationId xmlns:a16="http://schemas.microsoft.com/office/drawing/2014/main" id="{9FF6534F-E40D-C3D1-348F-AC85D67E72D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6794810" y="203514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43" name="Picture 2">
              <a:extLst>
                <a:ext uri="{FF2B5EF4-FFF2-40B4-BE49-F238E27FC236}">
                  <a16:creationId xmlns:a16="http://schemas.microsoft.com/office/drawing/2014/main" id="{8A0346AB-B78D-84C2-7048-BA8E27F7AD8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a:off x="6947210" y="20503877"/>
              <a:ext cx="6920255"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045" name="Picture 2">
              <a:extLst>
                <a:ext uri="{FF2B5EF4-FFF2-40B4-BE49-F238E27FC236}">
                  <a16:creationId xmlns:a16="http://schemas.microsoft.com/office/drawing/2014/main" id="{E4C7D6FA-5720-0DDB-9929-57839536360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82" t="5658" r="1815" b="1882"/>
            <a:stretch>
              <a:fillRect/>
            </a:stretch>
          </p:blipFill>
          <p:spPr bwMode="auto">
            <a:xfrm flipH="1">
              <a:off x="7161776" y="20656279"/>
              <a:ext cx="6920254" cy="692812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grpSp>
      <p:pic>
        <p:nvPicPr>
          <p:cNvPr id="1079" name="Picture 1078">
            <a:extLst>
              <a:ext uri="{FF2B5EF4-FFF2-40B4-BE49-F238E27FC236}">
                <a16:creationId xmlns:a16="http://schemas.microsoft.com/office/drawing/2014/main" id="{C6F4FA27-53AF-187B-F2F1-8C88223E780D}"/>
              </a:ext>
            </a:extLst>
          </p:cNvPr>
          <p:cNvPicPr>
            <a:picLocks noChangeAspect="1"/>
          </p:cNvPicPr>
          <p:nvPr/>
        </p:nvPicPr>
        <p:blipFill>
          <a:blip r:embed="rId7"/>
          <a:stretch>
            <a:fillRect/>
          </a:stretch>
        </p:blipFill>
        <p:spPr>
          <a:xfrm>
            <a:off x="20047564" y="8861669"/>
            <a:ext cx="1362010" cy="968541"/>
          </a:xfrm>
          <a:prstGeom prst="rect">
            <a:avLst/>
          </a:prstGeom>
        </p:spPr>
      </p:pic>
      <p:pic>
        <p:nvPicPr>
          <p:cNvPr id="1081" name="Picture 1080">
            <a:extLst>
              <a:ext uri="{FF2B5EF4-FFF2-40B4-BE49-F238E27FC236}">
                <a16:creationId xmlns:a16="http://schemas.microsoft.com/office/drawing/2014/main" id="{B40A3BC6-5E14-380F-D543-5C87B7894231}"/>
              </a:ext>
            </a:extLst>
          </p:cNvPr>
          <p:cNvPicPr>
            <a:picLocks noChangeAspect="1"/>
          </p:cNvPicPr>
          <p:nvPr/>
        </p:nvPicPr>
        <p:blipFill>
          <a:blip r:embed="rId8"/>
          <a:stretch>
            <a:fillRect/>
          </a:stretch>
        </p:blipFill>
        <p:spPr>
          <a:xfrm>
            <a:off x="20918545" y="9514033"/>
            <a:ext cx="1256075" cy="892873"/>
          </a:xfrm>
          <a:prstGeom prst="rect">
            <a:avLst/>
          </a:prstGeom>
        </p:spPr>
      </p:pic>
      <p:pic>
        <p:nvPicPr>
          <p:cNvPr id="1082" name="Picture 1081">
            <a:extLst>
              <a:ext uri="{FF2B5EF4-FFF2-40B4-BE49-F238E27FC236}">
                <a16:creationId xmlns:a16="http://schemas.microsoft.com/office/drawing/2014/main" id="{A28DB46E-A5C5-A786-0AE9-AF9EF39FE99B}"/>
              </a:ext>
            </a:extLst>
          </p:cNvPr>
          <p:cNvPicPr>
            <a:picLocks noChangeAspect="1"/>
          </p:cNvPicPr>
          <p:nvPr/>
        </p:nvPicPr>
        <p:blipFill>
          <a:blip r:embed="rId9"/>
          <a:stretch>
            <a:fillRect/>
          </a:stretch>
        </p:blipFill>
        <p:spPr>
          <a:xfrm>
            <a:off x="18561448" y="10490359"/>
            <a:ext cx="756671" cy="1604144"/>
          </a:xfrm>
          <a:prstGeom prst="rect">
            <a:avLst/>
          </a:prstGeom>
        </p:spPr>
      </p:pic>
      <p:pic>
        <p:nvPicPr>
          <p:cNvPr id="1083" name="Picture 1082">
            <a:extLst>
              <a:ext uri="{FF2B5EF4-FFF2-40B4-BE49-F238E27FC236}">
                <a16:creationId xmlns:a16="http://schemas.microsoft.com/office/drawing/2014/main" id="{2C70CBE6-2E67-E77E-6EF8-0A2A7EB5EFAD}"/>
              </a:ext>
            </a:extLst>
          </p:cNvPr>
          <p:cNvPicPr>
            <a:picLocks noChangeAspect="1"/>
          </p:cNvPicPr>
          <p:nvPr/>
        </p:nvPicPr>
        <p:blipFill>
          <a:blip r:embed="rId10"/>
          <a:stretch>
            <a:fillRect/>
          </a:stretch>
        </p:blipFill>
        <p:spPr>
          <a:xfrm>
            <a:off x="19538684" y="10146742"/>
            <a:ext cx="923140" cy="1407410"/>
          </a:xfrm>
          <a:prstGeom prst="rect">
            <a:avLst/>
          </a:prstGeom>
        </p:spPr>
      </p:pic>
      <p:pic>
        <p:nvPicPr>
          <p:cNvPr id="1085" name="Picture 1084">
            <a:extLst>
              <a:ext uri="{FF2B5EF4-FFF2-40B4-BE49-F238E27FC236}">
                <a16:creationId xmlns:a16="http://schemas.microsoft.com/office/drawing/2014/main" id="{A104FB3C-E7AF-6B0F-CD06-99F0EC4F70DB}"/>
              </a:ext>
            </a:extLst>
          </p:cNvPr>
          <p:cNvPicPr>
            <a:picLocks noChangeAspect="1"/>
          </p:cNvPicPr>
          <p:nvPr/>
        </p:nvPicPr>
        <p:blipFill>
          <a:blip r:embed="rId11"/>
          <a:stretch>
            <a:fillRect/>
          </a:stretch>
        </p:blipFill>
        <p:spPr>
          <a:xfrm>
            <a:off x="20551444" y="10489565"/>
            <a:ext cx="1044207" cy="1135008"/>
          </a:xfrm>
          <a:prstGeom prst="rect">
            <a:avLst/>
          </a:prstGeom>
        </p:spPr>
      </p:pic>
      <p:pic>
        <p:nvPicPr>
          <p:cNvPr id="1086" name="Picture 1085">
            <a:extLst>
              <a:ext uri="{FF2B5EF4-FFF2-40B4-BE49-F238E27FC236}">
                <a16:creationId xmlns:a16="http://schemas.microsoft.com/office/drawing/2014/main" id="{9B98D8BE-26A3-E4FD-7DA2-2ACBD8FA74BE}"/>
              </a:ext>
            </a:extLst>
          </p:cNvPr>
          <p:cNvPicPr>
            <a:picLocks noChangeAspect="1"/>
          </p:cNvPicPr>
          <p:nvPr/>
        </p:nvPicPr>
        <p:blipFill>
          <a:blip r:embed="rId12"/>
          <a:stretch>
            <a:fillRect/>
          </a:stretch>
        </p:blipFill>
        <p:spPr>
          <a:xfrm>
            <a:off x="20838045" y="11100430"/>
            <a:ext cx="862606" cy="1135008"/>
          </a:xfrm>
          <a:prstGeom prst="rect">
            <a:avLst/>
          </a:prstGeom>
        </p:spPr>
      </p:pic>
      <p:pic>
        <p:nvPicPr>
          <p:cNvPr id="1089" name="Picture 1088">
            <a:extLst>
              <a:ext uri="{FF2B5EF4-FFF2-40B4-BE49-F238E27FC236}">
                <a16:creationId xmlns:a16="http://schemas.microsoft.com/office/drawing/2014/main" id="{B8BE8A9B-9ADE-1D32-AE87-2826542CD961}"/>
              </a:ext>
            </a:extLst>
          </p:cNvPr>
          <p:cNvPicPr>
            <a:picLocks noChangeAspect="1"/>
          </p:cNvPicPr>
          <p:nvPr/>
        </p:nvPicPr>
        <p:blipFill>
          <a:blip r:embed="rId13"/>
          <a:stretch>
            <a:fillRect/>
          </a:stretch>
        </p:blipFill>
        <p:spPr>
          <a:xfrm>
            <a:off x="18735744" y="8831680"/>
            <a:ext cx="945840" cy="1135008"/>
          </a:xfrm>
          <a:prstGeom prst="rect">
            <a:avLst/>
          </a:prstGeom>
        </p:spPr>
      </p:pic>
      <p:sp>
        <p:nvSpPr>
          <p:cNvPr id="1090" name="TextBox 1089">
            <a:extLst>
              <a:ext uri="{FF2B5EF4-FFF2-40B4-BE49-F238E27FC236}">
                <a16:creationId xmlns:a16="http://schemas.microsoft.com/office/drawing/2014/main" id="{FDAF917F-012C-FA75-2356-635DDE66E8C3}"/>
              </a:ext>
            </a:extLst>
          </p:cNvPr>
          <p:cNvSpPr txBox="1"/>
          <p:nvPr/>
        </p:nvSpPr>
        <p:spPr>
          <a:xfrm>
            <a:off x="12262481" y="7315754"/>
            <a:ext cx="5623849" cy="707886"/>
          </a:xfrm>
          <a:prstGeom prst="rect">
            <a:avLst/>
          </a:prstGeom>
          <a:noFill/>
        </p:spPr>
        <p:txBody>
          <a:bodyPr wrap="square" rtlCol="0">
            <a:spAutoFit/>
          </a:bodyPr>
          <a:lstStyle/>
          <a:p>
            <a:r>
              <a:rPr lang="en-US" sz="4000" dirty="0"/>
              <a:t>n frame brightfield video</a:t>
            </a:r>
          </a:p>
        </p:txBody>
      </p:sp>
      <p:sp>
        <p:nvSpPr>
          <p:cNvPr id="1092" name="TextBox 1091">
            <a:extLst>
              <a:ext uri="{FF2B5EF4-FFF2-40B4-BE49-F238E27FC236}">
                <a16:creationId xmlns:a16="http://schemas.microsoft.com/office/drawing/2014/main" id="{A855C929-A328-3442-5509-51B1620F232D}"/>
              </a:ext>
            </a:extLst>
          </p:cNvPr>
          <p:cNvSpPr txBox="1"/>
          <p:nvPr/>
        </p:nvSpPr>
        <p:spPr>
          <a:xfrm>
            <a:off x="5995459" y="2758782"/>
            <a:ext cx="31900282" cy="2554545"/>
          </a:xfrm>
          <a:prstGeom prst="rect">
            <a:avLst/>
          </a:prstGeom>
          <a:noFill/>
        </p:spPr>
        <p:txBody>
          <a:bodyPr wrap="square" rtlCol="0">
            <a:spAutoFit/>
          </a:bodyPr>
          <a:lstStyle/>
          <a:p>
            <a:pPr algn="ctr"/>
            <a:r>
              <a:rPr lang="en-US" sz="8000" dirty="0"/>
              <a:t>Michael “Xander” Widener</a:t>
            </a:r>
            <a:r>
              <a:rPr lang="en-US" sz="8000" baseline="30000" dirty="0"/>
              <a:t>1</a:t>
            </a:r>
            <a:r>
              <a:rPr lang="en-US" sz="8000" dirty="0"/>
              <a:t>, Carmen Rivera</a:t>
            </a:r>
            <a:r>
              <a:rPr lang="en-US" sz="8000" baseline="30000" dirty="0"/>
              <a:t>2</a:t>
            </a:r>
            <a:r>
              <a:rPr lang="en-US" sz="8000" dirty="0"/>
              <a:t>, Maitreyi Das</a:t>
            </a:r>
            <a:r>
              <a:rPr lang="en-US" sz="8000" baseline="30000" dirty="0"/>
              <a:t>2</a:t>
            </a:r>
            <a:r>
              <a:rPr lang="en-US" sz="8000" dirty="0"/>
              <a:t>, </a:t>
            </a:r>
            <a:r>
              <a:rPr lang="en-US" sz="8000" dirty="0" err="1"/>
              <a:t>Donglai</a:t>
            </a:r>
            <a:r>
              <a:rPr lang="en-US" sz="8000" dirty="0"/>
              <a:t> Wei</a:t>
            </a:r>
            <a:r>
              <a:rPr lang="en-US" sz="8000" baseline="30000" dirty="0"/>
              <a:t>1</a:t>
            </a:r>
            <a:endParaRPr lang="en-US" sz="8000" dirty="0"/>
          </a:p>
          <a:p>
            <a:pPr algn="ctr"/>
            <a:endParaRPr lang="en-US" sz="8000" dirty="0"/>
          </a:p>
        </p:txBody>
      </p:sp>
      <p:sp>
        <p:nvSpPr>
          <p:cNvPr id="1105" name="TextBox 1104">
            <a:extLst>
              <a:ext uri="{FF2B5EF4-FFF2-40B4-BE49-F238E27FC236}">
                <a16:creationId xmlns:a16="http://schemas.microsoft.com/office/drawing/2014/main" id="{BD7E16D5-5749-684A-CC0D-7AB78B244334}"/>
              </a:ext>
            </a:extLst>
          </p:cNvPr>
          <p:cNvSpPr txBox="1"/>
          <p:nvPr/>
        </p:nvSpPr>
        <p:spPr>
          <a:xfrm>
            <a:off x="18340605" y="7320659"/>
            <a:ext cx="3770880" cy="707886"/>
          </a:xfrm>
          <a:prstGeom prst="rect">
            <a:avLst/>
          </a:prstGeom>
          <a:noFill/>
        </p:spPr>
        <p:txBody>
          <a:bodyPr wrap="square" rtlCol="0">
            <a:spAutoFit/>
          </a:bodyPr>
          <a:lstStyle/>
          <a:p>
            <a:r>
              <a:rPr lang="en-US" sz="4000" dirty="0"/>
              <a:t>k cells per frame</a:t>
            </a:r>
          </a:p>
        </p:txBody>
      </p:sp>
      <p:sp>
        <p:nvSpPr>
          <p:cNvPr id="1107" name="Rectangle 1106">
            <a:extLst>
              <a:ext uri="{FF2B5EF4-FFF2-40B4-BE49-F238E27FC236}">
                <a16:creationId xmlns:a16="http://schemas.microsoft.com/office/drawing/2014/main" id="{3C3F7292-AB7D-1B68-6AF5-18ACC9E4B4D8}"/>
              </a:ext>
            </a:extLst>
          </p:cNvPr>
          <p:cNvSpPr/>
          <p:nvPr/>
        </p:nvSpPr>
        <p:spPr>
          <a:xfrm>
            <a:off x="18550130" y="8641185"/>
            <a:ext cx="1312429" cy="1458410"/>
          </a:xfrm>
          <a:prstGeom prst="rect">
            <a:avLst/>
          </a:prstGeom>
          <a:noFill/>
          <a:ln w="76200">
            <a:solidFill>
              <a:srgbClr val="8B1009"/>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8" name="Straight Connector 1117">
            <a:extLst>
              <a:ext uri="{FF2B5EF4-FFF2-40B4-BE49-F238E27FC236}">
                <a16:creationId xmlns:a16="http://schemas.microsoft.com/office/drawing/2014/main" id="{395968E9-1199-C2A7-E3C8-F924B80AE0E3}"/>
              </a:ext>
            </a:extLst>
          </p:cNvPr>
          <p:cNvCxnSpPr>
            <a:cxnSpLocks/>
          </p:cNvCxnSpPr>
          <p:nvPr/>
        </p:nvCxnSpPr>
        <p:spPr>
          <a:xfrm flipH="1">
            <a:off x="12095533" y="10099595"/>
            <a:ext cx="6454597" cy="4386355"/>
          </a:xfrm>
          <a:prstGeom prst="line">
            <a:avLst/>
          </a:prstGeom>
          <a:ln w="76200">
            <a:solidFill>
              <a:srgbClr val="8B1009"/>
            </a:solidFill>
            <a:prstDash val="dash"/>
          </a:ln>
        </p:spPr>
        <p:style>
          <a:lnRef idx="1">
            <a:schemeClr val="accent1"/>
          </a:lnRef>
          <a:fillRef idx="0">
            <a:schemeClr val="accent1"/>
          </a:fillRef>
          <a:effectRef idx="0">
            <a:schemeClr val="accent1"/>
          </a:effectRef>
          <a:fontRef idx="minor">
            <a:schemeClr val="tx1"/>
          </a:fontRef>
        </p:style>
      </p:cxnSp>
      <p:sp>
        <p:nvSpPr>
          <p:cNvPr id="1122" name="TextBox 1121">
            <a:extLst>
              <a:ext uri="{FF2B5EF4-FFF2-40B4-BE49-F238E27FC236}">
                <a16:creationId xmlns:a16="http://schemas.microsoft.com/office/drawing/2014/main" id="{200BFC46-AE6E-AEB5-01F7-ACEE3F83F61D}"/>
              </a:ext>
            </a:extLst>
          </p:cNvPr>
          <p:cNvSpPr txBox="1"/>
          <p:nvPr/>
        </p:nvSpPr>
        <p:spPr>
          <a:xfrm>
            <a:off x="15839398" y="13631317"/>
            <a:ext cx="13321968" cy="707886"/>
          </a:xfrm>
          <a:prstGeom prst="rect">
            <a:avLst/>
          </a:prstGeom>
          <a:noFill/>
        </p:spPr>
        <p:txBody>
          <a:bodyPr wrap="square" rtlCol="0">
            <a:spAutoFit/>
          </a:bodyPr>
          <a:lstStyle/>
          <a:p>
            <a:r>
              <a:rPr lang="en-US" sz="4000" dirty="0"/>
              <a:t>For each cell, for each frame, the following steps are performed</a:t>
            </a:r>
          </a:p>
        </p:txBody>
      </p:sp>
      <p:sp>
        <p:nvSpPr>
          <p:cNvPr id="1125" name="TextBox 1124">
            <a:extLst>
              <a:ext uri="{FF2B5EF4-FFF2-40B4-BE49-F238E27FC236}">
                <a16:creationId xmlns:a16="http://schemas.microsoft.com/office/drawing/2014/main" id="{C8EB7E25-3A90-346C-29BF-C627E9880FA0}"/>
              </a:ext>
            </a:extLst>
          </p:cNvPr>
          <p:cNvSpPr txBox="1"/>
          <p:nvPr/>
        </p:nvSpPr>
        <p:spPr>
          <a:xfrm>
            <a:off x="16633131" y="20451984"/>
            <a:ext cx="11357280" cy="707886"/>
          </a:xfrm>
          <a:prstGeom prst="rect">
            <a:avLst/>
          </a:prstGeom>
          <a:noFill/>
        </p:spPr>
        <p:txBody>
          <a:bodyPr wrap="square" rtlCol="0">
            <a:spAutoFit/>
          </a:bodyPr>
          <a:lstStyle/>
          <a:p>
            <a:r>
              <a:rPr lang="en-US" sz="4000" dirty="0"/>
              <a:t>Steps of the algorithm visualized at the cell level</a:t>
            </a:r>
          </a:p>
        </p:txBody>
      </p:sp>
      <p:pic>
        <p:nvPicPr>
          <p:cNvPr id="1034" name="Picture 20" descr="Das Lab Logo">
            <a:extLst>
              <a:ext uri="{FF2B5EF4-FFF2-40B4-BE49-F238E27FC236}">
                <a16:creationId xmlns:a16="http://schemas.microsoft.com/office/drawing/2014/main" id="{021B4872-63CF-3A34-60C4-30BD630022C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752716" y="3581582"/>
            <a:ext cx="4055158" cy="1677996"/>
          </a:xfrm>
          <a:prstGeom prst="rect">
            <a:avLst/>
          </a:prstGeom>
          <a:noFill/>
          <a:extLst>
            <a:ext uri="{909E8E84-426E-40DD-AFC4-6F175D3DCCD1}">
              <a14:hiddenFill xmlns:a14="http://schemas.microsoft.com/office/drawing/2010/main">
                <a:solidFill>
                  <a:srgbClr val="FFFFFF"/>
                </a:solidFill>
              </a14:hiddenFill>
            </a:ext>
          </a:extLst>
        </p:spPr>
      </p:pic>
      <p:grpSp>
        <p:nvGrpSpPr>
          <p:cNvPr id="1036" name="Group 1035">
            <a:extLst>
              <a:ext uri="{FF2B5EF4-FFF2-40B4-BE49-F238E27FC236}">
                <a16:creationId xmlns:a16="http://schemas.microsoft.com/office/drawing/2014/main" id="{125DBAD2-0C0F-D3F3-3F79-1CFC96DDA76A}"/>
              </a:ext>
            </a:extLst>
          </p:cNvPr>
          <p:cNvGrpSpPr/>
          <p:nvPr/>
        </p:nvGrpSpPr>
        <p:grpSpPr>
          <a:xfrm>
            <a:off x="248003" y="2945774"/>
            <a:ext cx="5107338" cy="2833282"/>
            <a:chOff x="812505" y="2572478"/>
            <a:chExt cx="8136257" cy="4487447"/>
          </a:xfrm>
        </p:grpSpPr>
        <p:pic>
          <p:nvPicPr>
            <p:cNvPr id="8198" name="Picture 6" descr="Boston College Logo, symbol, meaning, history, PNG, brand">
              <a:extLst>
                <a:ext uri="{FF2B5EF4-FFF2-40B4-BE49-F238E27FC236}">
                  <a16:creationId xmlns:a16="http://schemas.microsoft.com/office/drawing/2014/main" id="{467F7A6F-AEE0-71A7-25B6-282A9903B1B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l="-1" r="67385"/>
            <a:stretch>
              <a:fillRect/>
            </a:stretch>
          </p:blipFill>
          <p:spPr bwMode="auto">
            <a:xfrm>
              <a:off x="812505" y="2572478"/>
              <a:ext cx="2601993" cy="4487447"/>
            </a:xfrm>
            <a:prstGeom prst="rect">
              <a:avLst/>
            </a:prstGeom>
            <a:noFill/>
          </p:spPr>
        </p:pic>
        <p:pic>
          <p:nvPicPr>
            <p:cNvPr id="8200" name="Picture 8">
              <a:extLst>
                <a:ext uri="{FF2B5EF4-FFF2-40B4-BE49-F238E27FC236}">
                  <a16:creationId xmlns:a16="http://schemas.microsoft.com/office/drawing/2014/main" id="{D4021251-0840-075C-A224-9F6BAAA28F5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14362" y="3801311"/>
              <a:ext cx="5234400" cy="1968353"/>
            </a:xfrm>
            <a:prstGeom prst="rect">
              <a:avLst/>
            </a:prstGeom>
            <a:noFill/>
            <a:extLst>
              <a:ext uri="{909E8E84-426E-40DD-AFC4-6F175D3DCCD1}">
                <a14:hiddenFill xmlns:a14="http://schemas.microsoft.com/office/drawing/2010/main">
                  <a:solidFill>
                    <a:srgbClr val="FFFFFF"/>
                  </a:solidFill>
                </a14:hiddenFill>
              </a:ext>
            </a:extLst>
          </p:spPr>
        </p:pic>
      </p:grpSp>
      <p:sp>
        <p:nvSpPr>
          <p:cNvPr id="1038" name="Rectangle 1037">
            <a:extLst>
              <a:ext uri="{FF2B5EF4-FFF2-40B4-BE49-F238E27FC236}">
                <a16:creationId xmlns:a16="http://schemas.microsoft.com/office/drawing/2014/main" id="{8B19E8C6-DC7D-6069-38FE-E906A223F572}"/>
              </a:ext>
            </a:extLst>
          </p:cNvPr>
          <p:cNvSpPr/>
          <p:nvPr/>
        </p:nvSpPr>
        <p:spPr>
          <a:xfrm>
            <a:off x="510795" y="27017877"/>
            <a:ext cx="10305834" cy="1005008"/>
          </a:xfrm>
          <a:prstGeom prst="rect">
            <a:avLst/>
          </a:prstGeom>
          <a:solidFill>
            <a:srgbClr val="006E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t>References, Demo, Connect</a:t>
            </a:r>
          </a:p>
        </p:txBody>
      </p:sp>
      <p:sp>
        <p:nvSpPr>
          <p:cNvPr id="1046" name="Right Arrow 1045">
            <a:extLst>
              <a:ext uri="{FF2B5EF4-FFF2-40B4-BE49-F238E27FC236}">
                <a16:creationId xmlns:a16="http://schemas.microsoft.com/office/drawing/2014/main" id="{107E9CE9-AD3F-E221-BDC0-05E8ABFAA905}"/>
              </a:ext>
            </a:extLst>
          </p:cNvPr>
          <p:cNvSpPr/>
          <p:nvPr/>
        </p:nvSpPr>
        <p:spPr>
          <a:xfrm>
            <a:off x="22797203" y="10454129"/>
            <a:ext cx="840937" cy="409573"/>
          </a:xfrm>
          <a:prstGeom prst="rightArrow">
            <a:avLst/>
          </a:prstGeom>
          <a:solidFill>
            <a:srgbClr val="006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ight Arrow 1046">
            <a:extLst>
              <a:ext uri="{FF2B5EF4-FFF2-40B4-BE49-F238E27FC236}">
                <a16:creationId xmlns:a16="http://schemas.microsoft.com/office/drawing/2014/main" id="{195BDAFC-C6F4-5364-CD39-DF286B8C90C4}"/>
              </a:ext>
            </a:extLst>
          </p:cNvPr>
          <p:cNvSpPr/>
          <p:nvPr/>
        </p:nvSpPr>
        <p:spPr>
          <a:xfrm>
            <a:off x="17107454" y="10479402"/>
            <a:ext cx="890566" cy="395266"/>
          </a:xfrm>
          <a:prstGeom prst="rightArrow">
            <a:avLst/>
          </a:prstGeom>
          <a:solidFill>
            <a:srgbClr val="006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ight Arrow 1047">
            <a:extLst>
              <a:ext uri="{FF2B5EF4-FFF2-40B4-BE49-F238E27FC236}">
                <a16:creationId xmlns:a16="http://schemas.microsoft.com/office/drawing/2014/main" id="{832A8FB4-AFA4-BAF8-9B0E-DC6631F53163}"/>
              </a:ext>
            </a:extLst>
          </p:cNvPr>
          <p:cNvSpPr/>
          <p:nvPr/>
        </p:nvSpPr>
        <p:spPr>
          <a:xfrm>
            <a:off x="12825230" y="21203824"/>
            <a:ext cx="18924770" cy="400202"/>
          </a:xfrm>
          <a:prstGeom prst="rightArrow">
            <a:avLst/>
          </a:prstGeom>
          <a:solidFill>
            <a:srgbClr val="006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50" name="Picture 4">
            <a:extLst>
              <a:ext uri="{FF2B5EF4-FFF2-40B4-BE49-F238E27FC236}">
                <a16:creationId xmlns:a16="http://schemas.microsoft.com/office/drawing/2014/main" id="{C30F2711-D2F0-DB59-4BD7-06A2578C9AB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115515" y="7938501"/>
            <a:ext cx="5433767" cy="5436870"/>
          </a:xfrm>
          <a:prstGeom prst="rect">
            <a:avLst/>
          </a:prstGeom>
          <a:noFill/>
          <a:extLst>
            <a:ext uri="{909E8E84-426E-40DD-AFC4-6F175D3DCCD1}">
              <a14:hiddenFill xmlns:a14="http://schemas.microsoft.com/office/drawing/2010/main">
                <a:solidFill>
                  <a:srgbClr val="FFFFFF"/>
                </a:solidFill>
              </a14:hiddenFill>
            </a:ext>
          </a:extLst>
        </p:spPr>
      </p:pic>
      <p:cxnSp>
        <p:nvCxnSpPr>
          <p:cNvPr id="1119" name="Straight Connector 1118">
            <a:extLst>
              <a:ext uri="{FF2B5EF4-FFF2-40B4-BE49-F238E27FC236}">
                <a16:creationId xmlns:a16="http://schemas.microsoft.com/office/drawing/2014/main" id="{8C83C602-28C8-6CD3-7AFD-D5345E194841}"/>
              </a:ext>
            </a:extLst>
          </p:cNvPr>
          <p:cNvCxnSpPr>
            <a:cxnSpLocks/>
          </p:cNvCxnSpPr>
          <p:nvPr/>
        </p:nvCxnSpPr>
        <p:spPr>
          <a:xfrm>
            <a:off x="19862559" y="10097314"/>
            <a:ext cx="12621230" cy="4386355"/>
          </a:xfrm>
          <a:prstGeom prst="line">
            <a:avLst/>
          </a:prstGeom>
          <a:ln w="76200">
            <a:solidFill>
              <a:srgbClr val="8B1009"/>
            </a:solidFill>
            <a:prstDash val="dash"/>
          </a:ln>
        </p:spPr>
        <p:style>
          <a:lnRef idx="1">
            <a:schemeClr val="accent1"/>
          </a:lnRef>
          <a:fillRef idx="0">
            <a:schemeClr val="accent1"/>
          </a:fillRef>
          <a:effectRef idx="0">
            <a:schemeClr val="accent1"/>
          </a:effectRef>
          <a:fontRef idx="minor">
            <a:schemeClr val="tx1"/>
          </a:fontRef>
        </p:style>
      </p:cxnSp>
      <p:sp>
        <p:nvSpPr>
          <p:cNvPr id="1056" name="TextBox 1055">
            <a:extLst>
              <a:ext uri="{FF2B5EF4-FFF2-40B4-BE49-F238E27FC236}">
                <a16:creationId xmlns:a16="http://schemas.microsoft.com/office/drawing/2014/main" id="{AD4CD18B-A2A0-51D8-0743-DE6074763B3B}"/>
              </a:ext>
            </a:extLst>
          </p:cNvPr>
          <p:cNvSpPr txBox="1"/>
          <p:nvPr/>
        </p:nvSpPr>
        <p:spPr>
          <a:xfrm>
            <a:off x="27639691" y="7291472"/>
            <a:ext cx="4538312" cy="707886"/>
          </a:xfrm>
          <a:prstGeom prst="rect">
            <a:avLst/>
          </a:prstGeom>
          <a:noFill/>
        </p:spPr>
        <p:txBody>
          <a:bodyPr wrap="square" rtlCol="0">
            <a:spAutoFit/>
          </a:bodyPr>
          <a:lstStyle/>
          <a:p>
            <a:r>
              <a:rPr lang="en-US" sz="4000" dirty="0"/>
              <a:t>.csv &amp; growth curves</a:t>
            </a:r>
          </a:p>
        </p:txBody>
      </p:sp>
      <p:sp>
        <p:nvSpPr>
          <p:cNvPr id="1065" name="TextBox 1064">
            <a:extLst>
              <a:ext uri="{FF2B5EF4-FFF2-40B4-BE49-F238E27FC236}">
                <a16:creationId xmlns:a16="http://schemas.microsoft.com/office/drawing/2014/main" id="{45F8873D-5BC6-5D17-D9A7-2A33939611C9}"/>
              </a:ext>
            </a:extLst>
          </p:cNvPr>
          <p:cNvSpPr txBox="1"/>
          <p:nvPr/>
        </p:nvSpPr>
        <p:spPr>
          <a:xfrm rot="5400000">
            <a:off x="24748563" y="10293204"/>
            <a:ext cx="550151" cy="707886"/>
          </a:xfrm>
          <a:prstGeom prst="rect">
            <a:avLst/>
          </a:prstGeom>
          <a:noFill/>
        </p:spPr>
        <p:txBody>
          <a:bodyPr wrap="none" rtlCol="0">
            <a:spAutoFit/>
          </a:bodyPr>
          <a:lstStyle/>
          <a:p>
            <a:r>
              <a:rPr lang="en-US" sz="4000" b="1" dirty="0"/>
              <a:t>…</a:t>
            </a:r>
          </a:p>
        </p:txBody>
      </p:sp>
      <p:sp>
        <p:nvSpPr>
          <p:cNvPr id="1066" name="Right Arrow 1065">
            <a:extLst>
              <a:ext uri="{FF2B5EF4-FFF2-40B4-BE49-F238E27FC236}">
                <a16:creationId xmlns:a16="http://schemas.microsoft.com/office/drawing/2014/main" id="{5864EEBA-0574-A129-19D6-56996CBD5881}"/>
              </a:ext>
            </a:extLst>
          </p:cNvPr>
          <p:cNvSpPr/>
          <p:nvPr/>
        </p:nvSpPr>
        <p:spPr>
          <a:xfrm>
            <a:off x="26015607" y="10439830"/>
            <a:ext cx="840937" cy="409573"/>
          </a:xfrm>
          <a:prstGeom prst="rightArrow">
            <a:avLst/>
          </a:prstGeom>
          <a:solidFill>
            <a:srgbClr val="006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TextBox 1066">
            <a:extLst>
              <a:ext uri="{FF2B5EF4-FFF2-40B4-BE49-F238E27FC236}">
                <a16:creationId xmlns:a16="http://schemas.microsoft.com/office/drawing/2014/main" id="{4C1F7F78-6E5E-77A6-BE77-2FAD4B19A0A5}"/>
              </a:ext>
            </a:extLst>
          </p:cNvPr>
          <p:cNvSpPr txBox="1"/>
          <p:nvPr/>
        </p:nvSpPr>
        <p:spPr>
          <a:xfrm>
            <a:off x="23162223" y="7358323"/>
            <a:ext cx="3770880" cy="707886"/>
          </a:xfrm>
          <a:prstGeom prst="rect">
            <a:avLst/>
          </a:prstGeom>
          <a:noFill/>
        </p:spPr>
        <p:txBody>
          <a:bodyPr wrap="square" rtlCol="0">
            <a:spAutoFit/>
          </a:bodyPr>
          <a:lstStyle/>
          <a:p>
            <a:r>
              <a:rPr lang="en-US" sz="4000" dirty="0"/>
              <a:t>lineage tracking</a:t>
            </a:r>
          </a:p>
        </p:txBody>
      </p:sp>
      <p:sp>
        <p:nvSpPr>
          <p:cNvPr id="8193" name="Rectangle 8192">
            <a:extLst>
              <a:ext uri="{FF2B5EF4-FFF2-40B4-BE49-F238E27FC236}">
                <a16:creationId xmlns:a16="http://schemas.microsoft.com/office/drawing/2014/main" id="{A60671A1-BD48-5E51-AA06-48BA8201F05F}"/>
              </a:ext>
            </a:extLst>
          </p:cNvPr>
          <p:cNvSpPr/>
          <p:nvPr/>
        </p:nvSpPr>
        <p:spPr>
          <a:xfrm>
            <a:off x="13541622" y="9721114"/>
            <a:ext cx="554264" cy="791792"/>
          </a:xfrm>
          <a:prstGeom prst="rect">
            <a:avLst/>
          </a:prstGeom>
          <a:noFill/>
          <a:ln w="76200">
            <a:solidFill>
              <a:srgbClr val="8B1009"/>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5" name="Rectangle 8194">
            <a:extLst>
              <a:ext uri="{FF2B5EF4-FFF2-40B4-BE49-F238E27FC236}">
                <a16:creationId xmlns:a16="http://schemas.microsoft.com/office/drawing/2014/main" id="{8611D74D-5162-B80D-6EE1-6B46A5498162}"/>
              </a:ext>
            </a:extLst>
          </p:cNvPr>
          <p:cNvSpPr/>
          <p:nvPr/>
        </p:nvSpPr>
        <p:spPr>
          <a:xfrm>
            <a:off x="18048441" y="8399930"/>
            <a:ext cx="4418275" cy="4107916"/>
          </a:xfrm>
          <a:prstGeom prst="rect">
            <a:avLst/>
          </a:prstGeom>
          <a:noFill/>
          <a:ln w="76200">
            <a:solidFill>
              <a:srgbClr val="006EB8"/>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7" name="Picture 8196">
            <a:extLst>
              <a:ext uri="{FF2B5EF4-FFF2-40B4-BE49-F238E27FC236}">
                <a16:creationId xmlns:a16="http://schemas.microsoft.com/office/drawing/2014/main" id="{478B887F-D6B7-35AB-F688-E08D8516042C}"/>
              </a:ext>
            </a:extLst>
          </p:cNvPr>
          <p:cNvPicPr>
            <a:picLocks noChangeAspect="1"/>
          </p:cNvPicPr>
          <p:nvPr/>
        </p:nvPicPr>
        <p:blipFill>
          <a:blip r:embed="rId18"/>
          <a:srcRect l="10098" t="10885" r="9137" b="7842"/>
          <a:stretch>
            <a:fillRect/>
          </a:stretch>
        </p:blipFill>
        <p:spPr>
          <a:xfrm>
            <a:off x="24085968" y="11020182"/>
            <a:ext cx="1600701" cy="2050085"/>
          </a:xfrm>
          <a:prstGeom prst="rect">
            <a:avLst/>
          </a:prstGeom>
          <a:ln w="76200">
            <a:solidFill>
              <a:srgbClr val="8B1009"/>
            </a:solidFill>
          </a:ln>
        </p:spPr>
      </p:pic>
      <p:sp>
        <p:nvSpPr>
          <p:cNvPr id="2" name="TextBox 1">
            <a:extLst>
              <a:ext uri="{FF2B5EF4-FFF2-40B4-BE49-F238E27FC236}">
                <a16:creationId xmlns:a16="http://schemas.microsoft.com/office/drawing/2014/main" id="{DD130220-5311-2FE4-2A81-B6DDF5C19FCE}"/>
              </a:ext>
            </a:extLst>
          </p:cNvPr>
          <p:cNvSpPr txBox="1"/>
          <p:nvPr/>
        </p:nvSpPr>
        <p:spPr>
          <a:xfrm>
            <a:off x="-6105832" y="2507226"/>
            <a:ext cx="184731" cy="369332"/>
          </a:xfrm>
          <a:prstGeom prst="rect">
            <a:avLst/>
          </a:prstGeom>
          <a:noFill/>
        </p:spPr>
        <p:txBody>
          <a:bodyPr wrap="none" rtlCol="0">
            <a:spAutoFit/>
          </a:bodyPr>
          <a:lstStyle/>
          <a:p>
            <a:endParaRPr lang="en-US" dirty="0"/>
          </a:p>
        </p:txBody>
      </p:sp>
      <p:sp>
        <p:nvSpPr>
          <p:cNvPr id="6" name="Rectangle 5">
            <a:extLst>
              <a:ext uri="{FF2B5EF4-FFF2-40B4-BE49-F238E27FC236}">
                <a16:creationId xmlns:a16="http://schemas.microsoft.com/office/drawing/2014/main" id="{BBD85C0B-D632-18BC-C7A3-4903FBD36E4E}"/>
              </a:ext>
            </a:extLst>
          </p:cNvPr>
          <p:cNvSpPr/>
          <p:nvPr/>
        </p:nvSpPr>
        <p:spPr>
          <a:xfrm>
            <a:off x="11995833" y="25086468"/>
            <a:ext cx="31227616" cy="1064772"/>
          </a:xfrm>
          <a:prstGeom prst="rect">
            <a:avLst/>
          </a:prstGeom>
          <a:solidFill>
            <a:srgbClr val="006E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t>Quality Control: Mitigating Segmentation &amp; Tracking Noise</a:t>
            </a:r>
          </a:p>
        </p:txBody>
      </p:sp>
      <p:pic>
        <p:nvPicPr>
          <p:cNvPr id="10" name="Picture 9">
            <a:extLst>
              <a:ext uri="{FF2B5EF4-FFF2-40B4-BE49-F238E27FC236}">
                <a16:creationId xmlns:a16="http://schemas.microsoft.com/office/drawing/2014/main" id="{9D7CFBFC-8E8F-CE64-E22B-DF9678AFF9AF}"/>
              </a:ext>
            </a:extLst>
          </p:cNvPr>
          <p:cNvPicPr>
            <a:picLocks noChangeAspect="1"/>
          </p:cNvPicPr>
          <p:nvPr/>
        </p:nvPicPr>
        <p:blipFill>
          <a:blip r:embed="rId19"/>
          <a:srcRect l="1553" t="975" r="2919" b="1295"/>
          <a:stretch>
            <a:fillRect/>
          </a:stretch>
        </p:blipFill>
        <p:spPr>
          <a:xfrm>
            <a:off x="41021651" y="26607877"/>
            <a:ext cx="2174700" cy="2795442"/>
          </a:xfrm>
          <a:prstGeom prst="rect">
            <a:avLst/>
          </a:prstGeom>
          <a:ln w="76200">
            <a:solidFill>
              <a:schemeClr val="accent2"/>
            </a:solidFill>
          </a:ln>
        </p:spPr>
      </p:pic>
      <p:sp>
        <p:nvSpPr>
          <p:cNvPr id="20" name="TextBox 19">
            <a:extLst>
              <a:ext uri="{FF2B5EF4-FFF2-40B4-BE49-F238E27FC236}">
                <a16:creationId xmlns:a16="http://schemas.microsoft.com/office/drawing/2014/main" id="{F4BC849F-FD5A-72A5-1AE3-3A299294FF2A}"/>
              </a:ext>
            </a:extLst>
          </p:cNvPr>
          <p:cNvSpPr txBox="1"/>
          <p:nvPr/>
        </p:nvSpPr>
        <p:spPr>
          <a:xfrm>
            <a:off x="510795" y="31328142"/>
            <a:ext cx="10410176" cy="1569660"/>
          </a:xfrm>
          <a:prstGeom prst="rect">
            <a:avLst/>
          </a:prstGeom>
          <a:noFill/>
        </p:spPr>
        <p:txBody>
          <a:bodyPr wrap="square" rtlCol="0">
            <a:spAutoFit/>
          </a:bodyPr>
          <a:lstStyle/>
          <a:p>
            <a:r>
              <a:rPr lang="en-US" sz="2400" dirty="0"/>
              <a:t>[1] </a:t>
            </a:r>
            <a:r>
              <a:rPr lang="en-US" sz="2400" dirty="0" err="1"/>
              <a:t>Mosaddeghzadeh</a:t>
            </a:r>
            <a:r>
              <a:rPr lang="en-US" sz="2400" dirty="0"/>
              <a:t> &amp; Ahmadian. </a:t>
            </a:r>
            <a:r>
              <a:rPr lang="en-US" sz="2400" i="1" dirty="0"/>
              <a:t>Cells</a:t>
            </a:r>
            <a:r>
              <a:rPr lang="en-US" sz="2400" dirty="0"/>
              <a:t> 10(7):1831 (2021).</a:t>
            </a:r>
          </a:p>
          <a:p>
            <a:r>
              <a:rPr lang="en-US" sz="2400" dirty="0"/>
              <a:t>[2] </a:t>
            </a:r>
            <a:r>
              <a:rPr lang="en-US" sz="2400" dirty="0" err="1"/>
              <a:t>Mitchison</a:t>
            </a:r>
            <a:r>
              <a:rPr lang="en-US" sz="2400" dirty="0"/>
              <a:t> &amp; Nurse. </a:t>
            </a:r>
            <a:r>
              <a:rPr lang="en-US" sz="2400" i="1" dirty="0"/>
              <a:t>J Cell Sci</a:t>
            </a:r>
            <a:r>
              <a:rPr lang="en-US" sz="2400" dirty="0"/>
              <a:t> 75:357–376 (1985).</a:t>
            </a:r>
          </a:p>
          <a:p>
            <a:r>
              <a:rPr lang="en-US" sz="2400" dirty="0"/>
              <a:t>[3] Rivera et al. Unpublished manuscript (2025).</a:t>
            </a:r>
          </a:p>
          <a:p>
            <a:r>
              <a:rPr lang="en-US" sz="2400" dirty="0"/>
              <a:t>[4] Stringer et al. </a:t>
            </a:r>
            <a:r>
              <a:rPr lang="en-US" sz="2400" i="1" dirty="0"/>
              <a:t>Nat Methods</a:t>
            </a:r>
            <a:r>
              <a:rPr lang="en-US" sz="2400" dirty="0"/>
              <a:t> 18:100–106 (2021).</a:t>
            </a:r>
          </a:p>
        </p:txBody>
      </p:sp>
      <p:sp>
        <p:nvSpPr>
          <p:cNvPr id="21" name="TextBox 20">
            <a:extLst>
              <a:ext uri="{FF2B5EF4-FFF2-40B4-BE49-F238E27FC236}">
                <a16:creationId xmlns:a16="http://schemas.microsoft.com/office/drawing/2014/main" id="{AD0303F8-FE72-E9C5-E50A-804A35FB5EE7}"/>
              </a:ext>
            </a:extLst>
          </p:cNvPr>
          <p:cNvSpPr txBox="1"/>
          <p:nvPr/>
        </p:nvSpPr>
        <p:spPr>
          <a:xfrm>
            <a:off x="550824" y="28220953"/>
            <a:ext cx="3826577" cy="707886"/>
          </a:xfrm>
          <a:prstGeom prst="rect">
            <a:avLst/>
          </a:prstGeom>
          <a:noFill/>
        </p:spPr>
        <p:txBody>
          <a:bodyPr wrap="square" rtlCol="0">
            <a:spAutoFit/>
          </a:bodyPr>
          <a:lstStyle/>
          <a:p>
            <a:pPr algn="ctr"/>
            <a:r>
              <a:rPr lang="en-US" sz="4000" dirty="0" err="1"/>
              <a:t>Colab</a:t>
            </a:r>
            <a:r>
              <a:rPr lang="en-US" sz="4000" dirty="0"/>
              <a:t> Demo</a:t>
            </a:r>
          </a:p>
        </p:txBody>
      </p:sp>
      <p:sp>
        <p:nvSpPr>
          <p:cNvPr id="22" name="TextBox 21">
            <a:extLst>
              <a:ext uri="{FF2B5EF4-FFF2-40B4-BE49-F238E27FC236}">
                <a16:creationId xmlns:a16="http://schemas.microsoft.com/office/drawing/2014/main" id="{0F3B4D30-1229-0720-B446-6F5926ABDFD8}"/>
              </a:ext>
            </a:extLst>
          </p:cNvPr>
          <p:cNvSpPr txBox="1"/>
          <p:nvPr/>
        </p:nvSpPr>
        <p:spPr>
          <a:xfrm>
            <a:off x="3559871" y="28220953"/>
            <a:ext cx="4343159" cy="707886"/>
          </a:xfrm>
          <a:prstGeom prst="rect">
            <a:avLst/>
          </a:prstGeom>
          <a:noFill/>
        </p:spPr>
        <p:txBody>
          <a:bodyPr wrap="square" rtlCol="0">
            <a:spAutoFit/>
          </a:bodyPr>
          <a:lstStyle/>
          <a:p>
            <a:pPr algn="ctr"/>
            <a:r>
              <a:rPr lang="en-US" sz="4000" dirty="0" err="1"/>
              <a:t>Github</a:t>
            </a:r>
            <a:r>
              <a:rPr lang="en-US" sz="4000" dirty="0"/>
              <a:t> Repo</a:t>
            </a:r>
          </a:p>
        </p:txBody>
      </p:sp>
      <p:sp>
        <p:nvSpPr>
          <p:cNvPr id="23" name="TextBox 22">
            <a:extLst>
              <a:ext uri="{FF2B5EF4-FFF2-40B4-BE49-F238E27FC236}">
                <a16:creationId xmlns:a16="http://schemas.microsoft.com/office/drawing/2014/main" id="{B9C5A1EC-97CE-CDD1-9249-6E8D86036F4F}"/>
              </a:ext>
            </a:extLst>
          </p:cNvPr>
          <p:cNvSpPr txBox="1"/>
          <p:nvPr/>
        </p:nvSpPr>
        <p:spPr>
          <a:xfrm>
            <a:off x="6894892" y="28257503"/>
            <a:ext cx="4343159" cy="707886"/>
          </a:xfrm>
          <a:prstGeom prst="rect">
            <a:avLst/>
          </a:prstGeom>
          <a:noFill/>
        </p:spPr>
        <p:txBody>
          <a:bodyPr wrap="square" rtlCol="0">
            <a:spAutoFit/>
          </a:bodyPr>
          <a:lstStyle/>
          <a:p>
            <a:pPr algn="ctr"/>
            <a:r>
              <a:rPr lang="en-US" sz="4000" dirty="0"/>
              <a:t>LinkedIn</a:t>
            </a:r>
          </a:p>
        </p:txBody>
      </p:sp>
      <p:sp>
        <p:nvSpPr>
          <p:cNvPr id="30" name="TextBox 29">
            <a:extLst>
              <a:ext uri="{FF2B5EF4-FFF2-40B4-BE49-F238E27FC236}">
                <a16:creationId xmlns:a16="http://schemas.microsoft.com/office/drawing/2014/main" id="{65D04A31-CCFF-B69D-F1D3-7F36F3822520}"/>
              </a:ext>
            </a:extLst>
          </p:cNvPr>
          <p:cNvSpPr txBox="1"/>
          <p:nvPr/>
        </p:nvSpPr>
        <p:spPr>
          <a:xfrm>
            <a:off x="12009849" y="21918734"/>
            <a:ext cx="20494876" cy="3295846"/>
          </a:xfrm>
          <a:prstGeom prst="rect">
            <a:avLst/>
          </a:prstGeom>
          <a:noFill/>
        </p:spPr>
        <p:txBody>
          <a:bodyPr wrap="square" rtlCol="0">
            <a:spAutoFit/>
          </a:bodyPr>
          <a:lstStyle/>
          <a:p>
            <a:pPr algn="just"/>
            <a:r>
              <a:rPr lang="en-US" sz="4000" dirty="0"/>
              <a:t>For each cell, a B-spline is fit to the </a:t>
            </a:r>
            <a:r>
              <a:rPr lang="en-US" sz="4000" dirty="0" err="1"/>
              <a:t>Cellpose</a:t>
            </a:r>
            <a:r>
              <a:rPr lang="en-US" sz="4000" dirty="0"/>
              <a:t> segmentation contour and signed curvature is computed at every point.</a:t>
            </a:r>
            <a:r>
              <a:rPr lang="en-US" sz="4000" baseline="30000" dirty="0"/>
              <a:t>4</a:t>
            </a:r>
            <a:r>
              <a:rPr lang="en-US" sz="4000" dirty="0"/>
              <a:t> The long axis is identified via PCA, and birth scar candidates are flagged as pairs of curvature peaks on opposite sides of the cell whose connecting vector is perpendicular to the long axis and spans the full cell width. The highest-scoring candidate pair defines the scar midpoint, from which new-end and old-end compartment lengths are measured to each pole.</a:t>
            </a:r>
          </a:p>
        </p:txBody>
      </p:sp>
      <p:pic>
        <p:nvPicPr>
          <p:cNvPr id="31" name="Picture 14">
            <a:extLst>
              <a:ext uri="{FF2B5EF4-FFF2-40B4-BE49-F238E27FC236}">
                <a16:creationId xmlns:a16="http://schemas.microsoft.com/office/drawing/2014/main" id="{279DBEFE-031D-DFFD-D13B-A1401CC7852C}"/>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l="556" t="3340" r="81188" b="51293"/>
          <a:stretch>
            <a:fillRect/>
          </a:stretch>
        </p:blipFill>
        <p:spPr bwMode="auto">
          <a:xfrm>
            <a:off x="38216648" y="26632596"/>
            <a:ext cx="2201102" cy="2795442"/>
          </a:xfrm>
          <a:prstGeom prst="rect">
            <a:avLst/>
          </a:prstGeom>
          <a:noFill/>
          <a:ln w="76200">
            <a:solidFill>
              <a:srgbClr val="92D050"/>
            </a:solidFill>
          </a:ln>
          <a:extLst>
            <a:ext uri="{909E8E84-426E-40DD-AFC4-6F175D3DCCD1}">
              <a14:hiddenFill xmlns:a14="http://schemas.microsoft.com/office/drawing/2010/main">
                <a:solidFill>
                  <a:srgbClr val="FFFFFF"/>
                </a:solidFill>
              </a14:hiddenFill>
            </a:ext>
          </a:extLst>
        </p:spPr>
      </p:pic>
      <p:pic>
        <p:nvPicPr>
          <p:cNvPr id="37" name="Picture 4">
            <a:extLst>
              <a:ext uri="{FF2B5EF4-FFF2-40B4-BE49-F238E27FC236}">
                <a16:creationId xmlns:a16="http://schemas.microsoft.com/office/drawing/2014/main" id="{F19DA46C-D3AB-3B97-1E56-CB97E9E86681}"/>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16622" t="59038" r="17573" b="1489"/>
          <a:stretch>
            <a:fillRect/>
          </a:stretch>
        </p:blipFill>
        <p:spPr bwMode="auto">
          <a:xfrm>
            <a:off x="32835036" y="26521796"/>
            <a:ext cx="4789415" cy="296760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9208E57-C96C-69DD-7E41-2E9C0205BE8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7178" t="9926" r="14041" b="1379"/>
          <a:stretch>
            <a:fillRect/>
          </a:stretch>
        </p:blipFill>
        <p:spPr bwMode="auto">
          <a:xfrm>
            <a:off x="12062163" y="26388828"/>
            <a:ext cx="7350189" cy="5911979"/>
          </a:xfrm>
          <a:prstGeom prst="rect">
            <a:avLst/>
          </a:prstGeom>
          <a:noFill/>
          <a:ln w="76200">
            <a:solidFill>
              <a:srgbClr val="92D050"/>
            </a:solidFill>
          </a:ln>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612270C-68FB-E3F1-E120-8944ECBD69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530" t="49195" r="50381" b="44170"/>
          <a:stretch>
            <a:fillRect/>
          </a:stretch>
        </p:blipFill>
        <p:spPr bwMode="auto">
          <a:xfrm rot="5400000">
            <a:off x="27524118" y="26432099"/>
            <a:ext cx="495491" cy="4907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47F3CBE-1FBB-4A3C-0E41-9FE2414F7319}"/>
              </a:ext>
            </a:extLst>
          </p:cNvPr>
          <p:cNvSpPr txBox="1"/>
          <p:nvPr/>
        </p:nvSpPr>
        <p:spPr>
          <a:xfrm>
            <a:off x="5868277" y="4102296"/>
            <a:ext cx="30862121" cy="1200329"/>
          </a:xfrm>
          <a:prstGeom prst="rect">
            <a:avLst/>
          </a:prstGeom>
          <a:noFill/>
        </p:spPr>
        <p:txBody>
          <a:bodyPr wrap="square" rtlCol="0">
            <a:spAutoFit/>
          </a:bodyPr>
          <a:lstStyle/>
          <a:p>
            <a:pPr algn="ctr"/>
            <a:r>
              <a:rPr lang="en-US" sz="3600" baseline="30000" dirty="0"/>
              <a:t>1</a:t>
            </a:r>
            <a:r>
              <a:rPr lang="en-US" sz="3600" dirty="0"/>
              <a:t>Computer Science Department, Boston College </a:t>
            </a:r>
          </a:p>
          <a:p>
            <a:pPr algn="ctr"/>
            <a:r>
              <a:rPr lang="en-US" sz="3600" baseline="30000" dirty="0"/>
              <a:t>2</a:t>
            </a:r>
            <a:r>
              <a:rPr lang="en-US" sz="3600" dirty="0"/>
              <a:t>Biology Department, Boston College </a:t>
            </a:r>
          </a:p>
        </p:txBody>
      </p:sp>
      <p:pic>
        <p:nvPicPr>
          <p:cNvPr id="5" name="Picture 16">
            <a:extLst>
              <a:ext uri="{FF2B5EF4-FFF2-40B4-BE49-F238E27FC236}">
                <a16:creationId xmlns:a16="http://schemas.microsoft.com/office/drawing/2014/main" id="{9E947C52-D8B6-9F2A-EBDF-1E5339244A8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401236" y="7177716"/>
            <a:ext cx="9822214" cy="560075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F9A4D304-5222-4484-4C9E-D8BF43E47F3E}"/>
              </a:ext>
            </a:extLst>
          </p:cNvPr>
          <p:cNvSpPr/>
          <p:nvPr/>
        </p:nvSpPr>
        <p:spPr>
          <a:xfrm>
            <a:off x="33560891" y="6012187"/>
            <a:ext cx="9662558" cy="1181809"/>
          </a:xfrm>
          <a:prstGeom prst="rect">
            <a:avLst/>
          </a:prstGeom>
          <a:solidFill>
            <a:srgbClr val="006E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t>Limitations &amp; Future Work</a:t>
            </a:r>
          </a:p>
        </p:txBody>
      </p:sp>
      <p:sp>
        <p:nvSpPr>
          <p:cNvPr id="16" name="TextBox 15">
            <a:extLst>
              <a:ext uri="{FF2B5EF4-FFF2-40B4-BE49-F238E27FC236}">
                <a16:creationId xmlns:a16="http://schemas.microsoft.com/office/drawing/2014/main" id="{F3B10B13-6673-3BFD-AB60-434CE5879C1A}"/>
              </a:ext>
            </a:extLst>
          </p:cNvPr>
          <p:cNvSpPr txBox="1"/>
          <p:nvPr/>
        </p:nvSpPr>
        <p:spPr>
          <a:xfrm>
            <a:off x="33585163" y="18811025"/>
            <a:ext cx="9735212" cy="6247864"/>
          </a:xfrm>
          <a:prstGeom prst="rect">
            <a:avLst/>
          </a:prstGeom>
          <a:noFill/>
        </p:spPr>
        <p:txBody>
          <a:bodyPr wrap="square" rtlCol="0">
            <a:spAutoFit/>
          </a:bodyPr>
          <a:lstStyle/>
          <a:p>
            <a:pPr algn="just"/>
            <a:r>
              <a:rPr lang="en-US" sz="4000" dirty="0"/>
              <a:t>Birth scar localization remains the primary source of measurement noise, compounded by occasional </a:t>
            </a:r>
            <a:r>
              <a:rPr lang="en-US" sz="4000" dirty="0" err="1"/>
              <a:t>Cellpose</a:t>
            </a:r>
            <a:r>
              <a:rPr lang="en-US" sz="4000" dirty="0"/>
              <a:t> segmentation failures, quality control failures and sensitivity to parameter choice. Future development will target more robust candidate scoring, automated parameter tuning, and tools that allow researchers to inspect and correct flagged detections without re-running the pipeline.</a:t>
            </a:r>
          </a:p>
        </p:txBody>
      </p:sp>
      <p:pic>
        <p:nvPicPr>
          <p:cNvPr id="17" name="Picture 2">
            <a:extLst>
              <a:ext uri="{FF2B5EF4-FFF2-40B4-BE49-F238E27FC236}">
                <a16:creationId xmlns:a16="http://schemas.microsoft.com/office/drawing/2014/main" id="{97B446E5-B579-395C-E96D-524F34A9AECB}"/>
              </a:ext>
            </a:extLst>
          </p:cNvPr>
          <p:cNvPicPr>
            <a:picLocks noChangeAspect="1" noChangeArrowheads="1"/>
          </p:cNvPicPr>
          <p:nvPr/>
        </p:nvPicPr>
        <p:blipFill rotWithShape="1">
          <a:blip r:embed="rId23">
            <a:extLst>
              <a:ext uri="{28A0092B-C50C-407E-A947-70E740481C1C}">
                <a14:useLocalDpi xmlns:a14="http://schemas.microsoft.com/office/drawing/2010/main" val="0"/>
              </a:ext>
            </a:extLst>
          </a:blip>
          <a:srcRect l="66990" t="53637" r="16746" b="24645"/>
          <a:stretch>
            <a:fillRect/>
          </a:stretch>
        </p:blipFill>
        <p:spPr bwMode="auto">
          <a:xfrm>
            <a:off x="33737208" y="14512247"/>
            <a:ext cx="3171017" cy="436730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AA6EB821-1E45-AC34-F522-7F1537CC5925}"/>
              </a:ext>
            </a:extLst>
          </p:cNvPr>
          <p:cNvPicPr>
            <a:picLocks noChangeAspect="1"/>
          </p:cNvPicPr>
          <p:nvPr/>
        </p:nvPicPr>
        <p:blipFill>
          <a:blip r:embed="rId24"/>
          <a:srcRect t="754" r="4649"/>
          <a:stretch>
            <a:fillRect/>
          </a:stretch>
        </p:blipFill>
        <p:spPr>
          <a:xfrm>
            <a:off x="37120174" y="14544400"/>
            <a:ext cx="6076177" cy="4367307"/>
          </a:xfrm>
          <a:prstGeom prst="rect">
            <a:avLst/>
          </a:prstGeom>
        </p:spPr>
      </p:pic>
      <p:sp>
        <p:nvSpPr>
          <p:cNvPr id="24" name="TextBox 23">
            <a:extLst>
              <a:ext uri="{FF2B5EF4-FFF2-40B4-BE49-F238E27FC236}">
                <a16:creationId xmlns:a16="http://schemas.microsoft.com/office/drawing/2014/main" id="{0A421964-737E-9CB1-0FEF-C6E502B4CC74}"/>
              </a:ext>
            </a:extLst>
          </p:cNvPr>
          <p:cNvSpPr txBox="1"/>
          <p:nvPr/>
        </p:nvSpPr>
        <p:spPr>
          <a:xfrm>
            <a:off x="40282287" y="32549068"/>
            <a:ext cx="3683309" cy="369332"/>
          </a:xfrm>
          <a:prstGeom prst="rect">
            <a:avLst/>
          </a:prstGeom>
          <a:noFill/>
        </p:spPr>
        <p:txBody>
          <a:bodyPr wrap="square">
            <a:spAutoFit/>
          </a:bodyPr>
          <a:lstStyle/>
          <a:p>
            <a:r>
              <a:rPr lang="en-US" dirty="0"/>
              <a:t>Funding: NIH/NIGMS R01GM136847</a:t>
            </a:r>
          </a:p>
        </p:txBody>
      </p:sp>
      <p:sp>
        <p:nvSpPr>
          <p:cNvPr id="28" name="TextBox 27">
            <a:extLst>
              <a:ext uri="{FF2B5EF4-FFF2-40B4-BE49-F238E27FC236}">
                <a16:creationId xmlns:a16="http://schemas.microsoft.com/office/drawing/2014/main" id="{0320B723-C058-22C4-B530-7854820A622C}"/>
              </a:ext>
            </a:extLst>
          </p:cNvPr>
          <p:cNvSpPr txBox="1"/>
          <p:nvPr/>
        </p:nvSpPr>
        <p:spPr>
          <a:xfrm>
            <a:off x="32817836" y="29434077"/>
            <a:ext cx="10502539" cy="3170099"/>
          </a:xfrm>
          <a:prstGeom prst="rect">
            <a:avLst/>
          </a:prstGeom>
          <a:noFill/>
        </p:spPr>
        <p:txBody>
          <a:bodyPr wrap="square" rtlCol="0">
            <a:spAutoFit/>
          </a:bodyPr>
          <a:lstStyle/>
          <a:p>
            <a:pPr algn="just"/>
            <a:r>
              <a:rPr lang="en-US" sz="4000" dirty="0"/>
              <a:t>Spatial and curvature-based filters flag border clips and </a:t>
            </a:r>
            <a:r>
              <a:rPr lang="en-US" sz="4000" dirty="0" err="1"/>
              <a:t>septated</a:t>
            </a:r>
            <a:r>
              <a:rPr lang="en-US" sz="4000" dirty="0"/>
              <a:t> cells. To eliminate birth scar oscillation, a temporal stability algorithm preserves high-confidence candidates across frames, filtering out transient curvature noise.</a:t>
            </a:r>
          </a:p>
        </p:txBody>
      </p:sp>
      <p:sp>
        <p:nvSpPr>
          <p:cNvPr id="36" name="TextBox 35">
            <a:extLst>
              <a:ext uri="{FF2B5EF4-FFF2-40B4-BE49-F238E27FC236}">
                <a16:creationId xmlns:a16="http://schemas.microsoft.com/office/drawing/2014/main" id="{46573F8A-361C-8E09-889D-94ACA1C70C5E}"/>
              </a:ext>
            </a:extLst>
          </p:cNvPr>
          <p:cNvSpPr txBox="1"/>
          <p:nvPr/>
        </p:nvSpPr>
        <p:spPr>
          <a:xfrm>
            <a:off x="33737208" y="12577829"/>
            <a:ext cx="9583167" cy="1938992"/>
          </a:xfrm>
          <a:prstGeom prst="rect">
            <a:avLst/>
          </a:prstGeom>
          <a:noFill/>
        </p:spPr>
        <p:txBody>
          <a:bodyPr wrap="square" rtlCol="0">
            <a:spAutoFit/>
          </a:bodyPr>
          <a:lstStyle/>
          <a:p>
            <a:pPr algn="just"/>
            <a:r>
              <a:rPr lang="en-US" sz="4000" dirty="0"/>
              <a:t>Green indicates clean BS detections and red marks frames where the cell was flagged as a border clip or segmentation artifact.</a:t>
            </a:r>
          </a:p>
        </p:txBody>
      </p:sp>
      <p:sp>
        <p:nvSpPr>
          <p:cNvPr id="41" name="TextBox 40">
            <a:extLst>
              <a:ext uri="{FF2B5EF4-FFF2-40B4-BE49-F238E27FC236}">
                <a16:creationId xmlns:a16="http://schemas.microsoft.com/office/drawing/2014/main" id="{AFDCE82B-9D9A-E6A2-9055-12B438481644}"/>
              </a:ext>
            </a:extLst>
          </p:cNvPr>
          <p:cNvSpPr txBox="1"/>
          <p:nvPr/>
        </p:nvSpPr>
        <p:spPr>
          <a:xfrm>
            <a:off x="510795" y="30699646"/>
            <a:ext cx="6864315" cy="523220"/>
          </a:xfrm>
          <a:prstGeom prst="rect">
            <a:avLst/>
          </a:prstGeom>
          <a:noFill/>
        </p:spPr>
        <p:txBody>
          <a:bodyPr wrap="none" rtlCol="0">
            <a:spAutoFit/>
          </a:bodyPr>
          <a:lstStyle/>
          <a:p>
            <a:r>
              <a:rPr lang="en-US" sz="2800" i="1" dirty="0"/>
              <a:t>For direct inquiries, email: </a:t>
            </a:r>
            <a:r>
              <a:rPr lang="en-US" sz="2800" dirty="0" err="1"/>
              <a:t>widenerm@bc.edu</a:t>
            </a:r>
            <a:endParaRPr lang="en-US" sz="2800" dirty="0"/>
          </a:p>
        </p:txBody>
      </p:sp>
      <p:pic>
        <p:nvPicPr>
          <p:cNvPr id="12" name="Graphic 11">
            <a:extLst>
              <a:ext uri="{FF2B5EF4-FFF2-40B4-BE49-F238E27FC236}">
                <a16:creationId xmlns:a16="http://schemas.microsoft.com/office/drawing/2014/main" id="{F2BC6696-499C-3A5E-7FB0-D17F3D6FC6A7}"/>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4838777" y="28926255"/>
            <a:ext cx="1594738" cy="1594738"/>
          </a:xfrm>
          <a:prstGeom prst="rect">
            <a:avLst/>
          </a:prstGeom>
        </p:spPr>
      </p:pic>
      <p:pic>
        <p:nvPicPr>
          <p:cNvPr id="26" name="Graphic 25">
            <a:extLst>
              <a:ext uri="{FF2B5EF4-FFF2-40B4-BE49-F238E27FC236}">
                <a16:creationId xmlns:a16="http://schemas.microsoft.com/office/drawing/2014/main" id="{E0E642A5-1720-5AEF-B74B-558034ACAEC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8269102" y="28930920"/>
            <a:ext cx="1594738" cy="1594738"/>
          </a:xfrm>
          <a:prstGeom prst="rect">
            <a:avLst/>
          </a:prstGeom>
        </p:spPr>
      </p:pic>
      <p:pic>
        <p:nvPicPr>
          <p:cNvPr id="35" name="Graphic 34">
            <a:extLst>
              <a:ext uri="{FF2B5EF4-FFF2-40B4-BE49-F238E27FC236}">
                <a16:creationId xmlns:a16="http://schemas.microsoft.com/office/drawing/2014/main" id="{1273442C-CCF9-9489-990F-409A868DB1A9}"/>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632512" y="28950149"/>
            <a:ext cx="1594738" cy="1594738"/>
          </a:xfrm>
          <a:prstGeom prst="rect">
            <a:avLst/>
          </a:prstGeom>
        </p:spPr>
      </p:pic>
    </p:spTree>
    <p:extLst>
      <p:ext uri="{BB962C8B-B14F-4D97-AF65-F5344CB8AC3E}">
        <p14:creationId xmlns:p14="http://schemas.microsoft.com/office/powerpoint/2010/main" val="29721260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3781</TotalTime>
  <Words>611</Words>
  <Application>Microsoft Macintosh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Widener</dc:creator>
  <cp:lastModifiedBy>Michael Widener</cp:lastModifiedBy>
  <cp:revision>18</cp:revision>
  <dcterms:created xsi:type="dcterms:W3CDTF">2026-04-18T19:17:49Z</dcterms:created>
  <dcterms:modified xsi:type="dcterms:W3CDTF">2026-05-04T20:22:29Z</dcterms:modified>
</cp:coreProperties>
</file>